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30" r:id="rId1"/>
  </p:sldMasterIdLst>
  <p:notesMasterIdLst>
    <p:notesMasterId r:id="rId14"/>
  </p:notesMasterIdLst>
  <p:sldIdLst>
    <p:sldId id="273" r:id="rId2"/>
    <p:sldId id="258" r:id="rId3"/>
    <p:sldId id="268" r:id="rId4"/>
    <p:sldId id="269" r:id="rId5"/>
    <p:sldId id="262" r:id="rId6"/>
    <p:sldId id="263" r:id="rId7"/>
    <p:sldId id="272" r:id="rId8"/>
    <p:sldId id="271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445990"/>
    <a:srgbClr val="298BA8"/>
    <a:srgbClr val="1E6E97"/>
    <a:srgbClr val="072D72"/>
    <a:srgbClr val="2786A5"/>
    <a:srgbClr val="00F8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1296B-CBFD-4231-A191-291DDD946A76}" v="309" dt="2026-02-27T14:53:17.9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4"/>
    <p:restoredTop sz="86402"/>
  </p:normalViewPr>
  <p:slideViewPr>
    <p:cSldViewPr snapToGrid="0" snapToObjects="1">
      <p:cViewPr varScale="1">
        <p:scale>
          <a:sx n="91" d="100"/>
          <a:sy n="91" d="100"/>
        </p:scale>
        <p:origin x="504" y="84"/>
      </p:cViewPr>
      <p:guideLst/>
    </p:cSldViewPr>
  </p:slideViewPr>
  <p:outlineViewPr>
    <p:cViewPr>
      <p:scale>
        <a:sx n="33" d="100"/>
        <a:sy n="33" d="100"/>
      </p:scale>
      <p:origin x="0" y="-124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F72F2-358A-1242-B77F-7D5F41835E60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13C5D-5480-934D-AE81-D0957DB633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84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93F12-0899-1C4F-9EEF-2D618F77C7E7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13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F5F254-9EE5-8246-8CE1-9404B64CAF48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07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0D489-958A-1347-9AB0-37BE93C31E8C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28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B637E-0B2F-9B45-B927-9C62F03FAE47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23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7D6F7-169F-3D4B-A2E7-666FBADD303C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64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9DC21-C50F-EA4E-8DFD-EAA08AC269B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430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40C16-B884-8342-9C2B-AF12897C2BEF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857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371A-7300-4A4C-B15A-3354E2504856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6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BB9F8-E85D-CB48-AAD3-CD9AEBA1193D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053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99126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3269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010158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243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820225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32536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90E83-CBF3-A948-9A42-382C6321EDC8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192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F9CAD-8E99-B54D-B5C2-262D1DB250EB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268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8923FDF-C6D2-3449-8464-91F10A05CC40}" type="datetime1">
              <a:rPr lang="en-IN" smtClean="0"/>
              <a:t>27-02-2026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Image processing techniques for breast cancer detection: </a:t>
            </a:r>
            <a:br>
              <a:rPr lang="en-US"/>
            </a:br>
            <a:r>
              <a:rPr lang="en-US"/>
              <a:t>A Review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5763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  <p:sldLayoutId id="2147483945" r:id="rId15"/>
    <p:sldLayoutId id="2147483946" r:id="rId16"/>
    <p:sldLayoutId id="214748394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53788C5-D326-171A-E9D1-EC35A434D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F7AC688-6A11-F3D5-2B52-EDB0C632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640" y="3497529"/>
            <a:ext cx="9882353" cy="25866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Saksham Sharma, Sumitkumar Tripathi, Dr. Mahendra Kanojia</a:t>
            </a:r>
            <a:endParaRPr lang="en-US" sz="1200" baseline="30000" dirty="0"/>
          </a:p>
          <a:p>
            <a:pPr marL="0" indent="0">
              <a:buNone/>
            </a:pPr>
            <a:endParaRPr lang="en-US" sz="1600" baseline="30000" dirty="0"/>
          </a:p>
          <a:p>
            <a:pPr marL="0" indent="0">
              <a:buNone/>
            </a:pPr>
            <a:r>
              <a:rPr lang="en-US" sz="1600" dirty="0"/>
              <a:t>Sheth L.U.J and Sir M.V College, Mumbai, India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F7700C8B-7533-FB5A-D186-8C6CDCD6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42AF25E-CD7A-7DDE-C4B5-AA4E5F8B0721}"/>
              </a:ext>
            </a:extLst>
          </p:cNvPr>
          <p:cNvSpPr/>
          <p:nvPr/>
        </p:nvSpPr>
        <p:spPr>
          <a:xfrm>
            <a:off x="270640" y="1793830"/>
            <a:ext cx="11708523" cy="15677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Real-Time Music Genre Classification using CNN and MFCC for Interactive Systems</a:t>
            </a:r>
            <a:endParaRPr lang="en-US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0417C09-0610-D300-8C8A-78A3CE541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33" y="218241"/>
            <a:ext cx="9134475" cy="9810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24EE18F-6CED-3283-27C0-673BA6888F58}"/>
              </a:ext>
            </a:extLst>
          </p:cNvPr>
          <p:cNvSpPr txBox="1"/>
          <p:nvPr/>
        </p:nvSpPr>
        <p:spPr>
          <a:xfrm>
            <a:off x="4339086" y="1457864"/>
            <a:ext cx="2419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Paper ID: ICMVLU36</a:t>
            </a:r>
          </a:p>
        </p:txBody>
      </p:sp>
    </p:spTree>
    <p:extLst>
      <p:ext uri="{BB962C8B-B14F-4D97-AF65-F5344CB8AC3E}">
        <p14:creationId xmlns:p14="http://schemas.microsoft.com/office/powerpoint/2010/main" val="692032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1061384"/>
          </a:xfrm>
        </p:spPr>
        <p:txBody>
          <a:bodyPr/>
          <a:lstStyle/>
          <a:p>
            <a:r>
              <a:rPr lang="en-US" dirty="0"/>
              <a:t>OUTLINE THAT WILL BE COVERED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8" y="1277008"/>
            <a:ext cx="11227115" cy="4747186"/>
          </a:xfrm>
        </p:spPr>
        <p:txBody>
          <a:bodyPr>
            <a:noAutofit/>
          </a:bodyPr>
          <a:lstStyle/>
          <a:p>
            <a:r>
              <a:rPr lang="en-US" sz="2400" dirty="0"/>
              <a:t>Introduction</a:t>
            </a:r>
          </a:p>
          <a:p>
            <a:r>
              <a:rPr lang="en-US" sz="2400" dirty="0"/>
              <a:t>Literature Review</a:t>
            </a:r>
            <a:endParaRPr lang="en-IN" sz="2400" dirty="0"/>
          </a:p>
          <a:p>
            <a:r>
              <a:rPr lang="en-US" sz="2400" dirty="0"/>
              <a:t>Dataset</a:t>
            </a:r>
            <a:endParaRPr lang="en-IN" sz="2400" dirty="0"/>
          </a:p>
          <a:p>
            <a:r>
              <a:rPr lang="en-US" sz="2400" dirty="0"/>
              <a:t>Proposed System</a:t>
            </a:r>
          </a:p>
          <a:p>
            <a:r>
              <a:rPr lang="en-US" sz="2400" dirty="0"/>
              <a:t>Results</a:t>
            </a:r>
          </a:p>
          <a:p>
            <a:r>
              <a:rPr lang="en-US" sz="2400" dirty="0"/>
              <a:t>Conclusion</a:t>
            </a:r>
          </a:p>
          <a:p>
            <a:r>
              <a:rPr lang="en-US" sz="2400" dirty="0"/>
              <a:t>References</a:t>
            </a:r>
            <a:r>
              <a:rPr lang="en-IN" sz="2400" dirty="0"/>
              <a:t> 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FE5DA406-1ED9-A804-AA7A-B8A7B6CD5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236728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sz="4400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128092"/>
            <a:ext cx="10895505" cy="4768830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Background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The expansion of digital music platforms necessitates efficient Music Information Retrieval (MIR) techniques to handle high-dimensional audio </a:t>
            </a:r>
            <a:r>
              <a:rPr lang="en-US" dirty="0" smtClean="0"/>
              <a:t>data.</a:t>
            </a:r>
            <a:endParaRPr lang="en-IN" b="1" dirty="0"/>
          </a:p>
          <a:p>
            <a:pPr algn="just"/>
            <a:r>
              <a:rPr lang="en-IN" dirty="0"/>
              <a:t>Problem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Classifying music genres in real-time requires balancing high predictive accuracy with low-latency responsiveness to overcome the computational limits of offline models.</a:t>
            </a:r>
            <a:endParaRPr lang="en-IN" b="1" dirty="0"/>
          </a:p>
          <a:p>
            <a:pPr algn="just"/>
            <a:r>
              <a:rPr lang="en-IN" dirty="0"/>
              <a:t>Objective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To develop an efficient, deployable classification framework specifically designed to deliver seamless user experiences in interactive systems.</a:t>
            </a:r>
            <a:endParaRPr lang="en-IN" b="1" dirty="0"/>
          </a:p>
          <a:p>
            <a:pPr algn="just"/>
            <a:r>
              <a:rPr lang="en-IN" dirty="0"/>
              <a:t>Method Used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Combining Mel-Frequency Cepstral Coefficients (MFCC) with a lightweight Convolutional Neural Network (CNN) to drastically reduce dimensionality while maintaining high accuracy and low latency.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124915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sz="4400" dirty="0"/>
              <a:t>Literature Review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49641"/>
            <a:ext cx="11168498" cy="43520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800" dirty="0"/>
              <a:t>Traditional Foundations</a:t>
            </a:r>
            <a:r>
              <a:rPr lang="en-US" sz="1800" b="1" dirty="0"/>
              <a:t>:</a:t>
            </a:r>
            <a:r>
              <a:rPr lang="en-US" sz="1800" dirty="0"/>
              <a:t> Tzanetakis &amp; Cook (2002) used handcrafted audio features with conventional classifiers, highlighting scalability and adaptability limitations across diverse genres</a:t>
            </a:r>
            <a:r>
              <a:rPr lang="en-US" sz="1800" dirty="0" smtClean="0"/>
              <a:t>.</a:t>
            </a:r>
          </a:p>
          <a:p>
            <a:pPr algn="just"/>
            <a:endParaRPr lang="en-US" sz="1200" dirty="0"/>
          </a:p>
          <a:p>
            <a:pPr algn="just"/>
            <a:r>
              <a:rPr lang="en-US" sz="1800" dirty="0" smtClean="0"/>
              <a:t>Architectural </a:t>
            </a:r>
            <a:r>
              <a:rPr lang="en-US" sz="1800" dirty="0"/>
              <a:t>Shifts</a:t>
            </a:r>
            <a:r>
              <a:rPr lang="en-US" sz="1800" b="1" dirty="0"/>
              <a:t>:</a:t>
            </a:r>
            <a:r>
              <a:rPr lang="en-US" sz="1800" dirty="0"/>
              <a:t> Abdel-Hamid et al. (2014) and Hershey et al. (2017) introduced low-complexity CNNs for real-time inference, though often at the cost of reduced accuracy</a:t>
            </a:r>
            <a:r>
              <a:rPr lang="en-US" sz="1800" dirty="0" smtClean="0"/>
              <a:t>.</a:t>
            </a:r>
          </a:p>
          <a:p>
            <a:pPr algn="just"/>
            <a:endParaRPr lang="en-US" sz="1200" dirty="0"/>
          </a:p>
          <a:p>
            <a:pPr algn="just"/>
            <a:r>
              <a:rPr lang="en-US" sz="1800" dirty="0" smtClean="0"/>
              <a:t>Optimal </a:t>
            </a:r>
            <a:r>
              <a:rPr lang="en-US" sz="1800" dirty="0"/>
              <a:t>Representations</a:t>
            </a:r>
            <a:r>
              <a:rPr lang="en-US" sz="1800" b="1" dirty="0"/>
              <a:t>:</a:t>
            </a:r>
            <a:r>
              <a:rPr lang="en-US" sz="1800" dirty="0"/>
              <a:t> Gourisaria et al. (2024) and Pearce et al. (2021) showed that MFCCs provide a strong balance between computational efficiency and predictive performance</a:t>
            </a:r>
            <a:r>
              <a:rPr lang="en-US" sz="1800" dirty="0" smtClean="0"/>
              <a:t>.</a:t>
            </a:r>
          </a:p>
          <a:p>
            <a:endParaRPr lang="en-US" sz="1200" dirty="0"/>
          </a:p>
          <a:p>
            <a:pPr algn="just"/>
            <a:r>
              <a:rPr lang="en-US" sz="1800" dirty="0" smtClean="0"/>
              <a:t>Current </a:t>
            </a:r>
            <a:r>
              <a:rPr lang="en-US" sz="1800" dirty="0"/>
              <a:t>Gaps</a:t>
            </a:r>
            <a:r>
              <a:rPr lang="en-US" sz="1800" b="1" dirty="0"/>
              <a:t>:</a:t>
            </a:r>
            <a:r>
              <a:rPr lang="en-US" sz="1800" dirty="0"/>
              <a:t> Won et al. (2021) demonstrated that high offline accuracy frequently degrades under streaming constraints, emphasizing the need for optimized, deployable MFCC-CNN frameworks.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376260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sz="4400" dirty="0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136642"/>
            <a:ext cx="10895505" cy="4768830"/>
          </a:xfrm>
        </p:spPr>
        <p:txBody>
          <a:bodyPr vert="horz" lIns="91440" tIns="45720" rIns="91440" bIns="45720" numCol="2" rtlCol="0" anchor="t">
            <a:normAutofit/>
          </a:bodyPr>
          <a:lstStyle/>
          <a:p>
            <a:pPr algn="just"/>
            <a:r>
              <a:rPr lang="en-US" sz="1800" dirty="0"/>
              <a:t>The </a:t>
            </a:r>
            <a:r>
              <a:rPr lang="en-US" sz="1800" dirty="0" smtClean="0"/>
              <a:t>system is </a:t>
            </a:r>
            <a:r>
              <a:rPr lang="en-US" sz="1800" dirty="0"/>
              <a:t>evaluated on the GTZAN music </a:t>
            </a:r>
            <a:r>
              <a:rPr lang="en-US" sz="1800" dirty="0" smtClean="0"/>
              <a:t>genre </a:t>
            </a:r>
            <a:r>
              <a:rPr lang="en-US" sz="1800" dirty="0"/>
              <a:t>dataset, consisting of 1,000 audio recordings, each with a duration of 30 seconds</a:t>
            </a:r>
            <a:r>
              <a:rPr lang="en-US" sz="1800" dirty="0" smtClean="0"/>
              <a:t>.</a:t>
            </a:r>
          </a:p>
          <a:p>
            <a:pPr algn="just"/>
            <a:endParaRPr lang="en-US" sz="1400" dirty="0" smtClean="0"/>
          </a:p>
          <a:p>
            <a:pPr algn="just"/>
            <a:r>
              <a:rPr lang="en-US" sz="1800" dirty="0"/>
              <a:t>The dataset contains 10 distinct music genres, with 100 samples per genre, ensuring balanced class distribution for multi-class classification</a:t>
            </a:r>
            <a:r>
              <a:rPr lang="en-US" sz="1800" dirty="0" smtClean="0"/>
              <a:t>.</a:t>
            </a:r>
          </a:p>
          <a:p>
            <a:pPr algn="just"/>
            <a:endParaRPr lang="en-US" sz="1400" dirty="0" smtClean="0"/>
          </a:p>
          <a:p>
            <a:pPr algn="just"/>
            <a:r>
              <a:rPr lang="en-US" sz="1800" dirty="0" smtClean="0"/>
              <a:t>All raw audio is consistently converted to a mono format and uniformly resampled.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="" xmlns:a16="http://schemas.microsoft.com/office/drawing/2014/main" id="{19794E64-DCB8-A7C6-B8BA-965286B143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473059"/>
              </p:ext>
            </p:extLst>
          </p:nvPr>
        </p:nvGraphicFramePr>
        <p:xfrm>
          <a:off x="6333235" y="1444582"/>
          <a:ext cx="5648321" cy="2926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841943">
                  <a:extLst>
                    <a:ext uri="{9D8B030D-6E8A-4147-A177-3AD203B41FA5}">
                      <a16:colId xmlns="" xmlns:a16="http://schemas.microsoft.com/office/drawing/2014/main" val="3776026209"/>
                    </a:ext>
                  </a:extLst>
                </a:gridCol>
                <a:gridCol w="2806378">
                  <a:extLst>
                    <a:ext uri="{9D8B030D-6E8A-4147-A177-3AD203B41FA5}">
                      <a16:colId xmlns="" xmlns:a16="http://schemas.microsoft.com/office/drawing/2014/main" val="26650615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0870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Total Audio Recordings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1,000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400941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Duration per Recording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30 sec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6717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Total Genres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77057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Samples per Genre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801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MFCC Coefficients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543740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Input Shape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(129 × 40 × 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47959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Output Classes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cap="none" spc="0" dirty="0">
                          <a:ln>
                            <a:noFill/>
                          </a:ln>
                          <a:solidFill>
                            <a:srgbClr val="EBEBEB"/>
                          </a:solidFill>
                          <a:effectLst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5821212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10704" y="4544989"/>
            <a:ext cx="494879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b="1" dirty="0"/>
              <a:t>Table 1. Dataset and Feature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187668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sz="4400" dirty="0"/>
              <a:t>Proposed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010" y="1357819"/>
            <a:ext cx="11546870" cy="4540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Efficient Feature Extraction (MFCC)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 smtClean="0"/>
              <a:t>The system extracts 40-dimensional Mel-Frequency Cepstral Coefficients (MFCCs) using framing, STFT, Mel-filterbank mapping, logarithmic compression, and DCT to obtain compact and discriminative spectral representations.</a:t>
            </a:r>
          </a:p>
          <a:p>
            <a:pPr marL="457200" lvl="1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Lightweight CNN Architecture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 smtClean="0"/>
              <a:t>A streamlined 2D CNN with three convolutional layers (32–128 filters), integrated with Batch Normalization, ReLU, and Max Pooling, learns local time-frequency patterns under strict real-time constraints.</a:t>
            </a:r>
          </a:p>
          <a:p>
            <a:pPr marL="457200" lvl="1" indent="0" algn="just">
              <a:buNone/>
            </a:pPr>
            <a:endParaRPr lang="en-US" dirty="0" smtClean="0"/>
          </a:p>
          <a:p>
            <a:pPr algn="just"/>
            <a:r>
              <a:rPr lang="en-US" dirty="0" smtClean="0"/>
              <a:t>Training and Regularization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 smtClean="0"/>
              <a:t>The model is optimized using categorical cross-entropy loss with the Adam optimizer, while dropout (0.3–0.5), batch normalization, and early stopping prevent overfitting.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270537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sz="4400" dirty="0"/>
              <a:t>Proposed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734207"/>
            <a:ext cx="10895505" cy="3510191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Real-Time Inference Pipeline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During deployment, short audio buffers undergo MFCC extraction via Librosa, feature normalization, and immediate CNN-based genre prediction to ensure low-latency responsiveness</a:t>
            </a:r>
            <a:r>
              <a:rPr lang="en-US" dirty="0" smtClean="0"/>
              <a:t>.</a:t>
            </a:r>
          </a:p>
          <a:p>
            <a:pPr lvl="1" algn="just">
              <a:buFont typeface="Wingdings" panose="05000000000000000000" pitchFamily="2" charset="2"/>
              <a:buChar char="§"/>
            </a:pPr>
            <a:endParaRPr lang="en-US" dirty="0"/>
          </a:p>
          <a:p>
            <a:pPr algn="just"/>
            <a:r>
              <a:rPr lang="en-US" dirty="0"/>
              <a:t>Accuracy–Latency Optimization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dirty="0"/>
              <a:t>The hybrid MFCC-CNN framework strategically balances computational efficiency and predictive performance, achieving 95% classification accuracy with minimal inference delay.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202796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sz="4400" dirty="0"/>
              <a:t>Proposed System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1073485" y="1969404"/>
            <a:ext cx="9981233" cy="3066395"/>
            <a:chOff x="424062" y="1696556"/>
            <a:chExt cx="9981233" cy="2989381"/>
          </a:xfrm>
        </p:grpSpPr>
        <p:grpSp>
          <p:nvGrpSpPr>
            <p:cNvPr id="8" name="Group 7"/>
            <p:cNvGrpSpPr/>
            <p:nvPr/>
          </p:nvGrpSpPr>
          <p:grpSpPr>
            <a:xfrm>
              <a:off x="3142257" y="1728085"/>
              <a:ext cx="1793270" cy="1103586"/>
              <a:chOff x="645130" y="3205655"/>
              <a:chExt cx="1793270" cy="1103586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717661" y="3434282"/>
                <a:ext cx="164820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Short- Timing </a:t>
                </a:r>
              </a:p>
              <a:p>
                <a:pPr algn="ctr"/>
                <a:r>
                  <a:rPr lang="en-US" dirty="0"/>
                  <a:t>Framing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425370" y="1698208"/>
              <a:ext cx="1793270" cy="1103586"/>
              <a:chOff x="645130" y="3205655"/>
              <a:chExt cx="1793270" cy="1103586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797811" y="3572782"/>
                <a:ext cx="14879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Audio Input</a:t>
                </a:r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>
              <a:off x="5769623" y="1696556"/>
              <a:ext cx="1806905" cy="1103586"/>
              <a:chOff x="631495" y="3205655"/>
              <a:chExt cx="1806905" cy="1103586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31495" y="3434282"/>
                <a:ext cx="18069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MFCC Feature</a:t>
                </a:r>
              </a:p>
              <a:p>
                <a:pPr algn="ctr"/>
                <a:r>
                  <a:rPr lang="en-US" dirty="0"/>
                  <a:t>Extraction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8500145" y="1698208"/>
              <a:ext cx="1806905" cy="1103586"/>
              <a:chOff x="631495" y="3205655"/>
              <a:chExt cx="1806905" cy="1103586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31495" y="3434282"/>
                <a:ext cx="18069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MFCC Feature</a:t>
                </a:r>
              </a:p>
              <a:p>
                <a:pPr algn="ctr"/>
                <a:r>
                  <a:rPr lang="en-US" dirty="0"/>
                  <a:t>Matrix</a:t>
                </a:r>
              </a:p>
            </p:txBody>
          </p:sp>
        </p:grpSp>
        <p:grpSp>
          <p:nvGrpSpPr>
            <p:cNvPr id="19" name="Group 18"/>
            <p:cNvGrpSpPr/>
            <p:nvPr/>
          </p:nvGrpSpPr>
          <p:grpSpPr>
            <a:xfrm>
              <a:off x="8515034" y="3578117"/>
              <a:ext cx="1890261" cy="1103586"/>
              <a:chOff x="596634" y="3205655"/>
              <a:chExt cx="1890261" cy="1103586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596634" y="3295781"/>
                <a:ext cx="189026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CNN </a:t>
                </a:r>
              </a:p>
              <a:p>
                <a:pPr algn="ctr"/>
                <a:r>
                  <a:rPr lang="en-US" dirty="0"/>
                  <a:t>(Conv + Relu + </a:t>
                </a:r>
              </a:p>
              <a:p>
                <a:pPr algn="ctr"/>
                <a:r>
                  <a:rPr lang="en-US" dirty="0"/>
                  <a:t>Pooling)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5800881" y="3577751"/>
              <a:ext cx="1793270" cy="1103586"/>
              <a:chOff x="581957" y="3232666"/>
              <a:chExt cx="1793270" cy="1103586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581957" y="3232666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668113" y="3554728"/>
                <a:ext cx="16209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Flatten Layer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3189646" y="3582351"/>
              <a:ext cx="1793270" cy="1103586"/>
              <a:chOff x="645130" y="3205655"/>
              <a:chExt cx="1793270" cy="1103586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756529" y="3269837"/>
                <a:ext cx="155683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Fully </a:t>
                </a:r>
              </a:p>
              <a:p>
                <a:pPr algn="ctr"/>
                <a:r>
                  <a:rPr lang="en-US" dirty="0"/>
                  <a:t>Connected </a:t>
                </a:r>
                <a:br>
                  <a:rPr lang="en-US" dirty="0"/>
                </a:br>
                <a:r>
                  <a:rPr lang="en-US" dirty="0"/>
                  <a:t>layer</a:t>
                </a:r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424062" y="3582351"/>
              <a:ext cx="1793270" cy="1103586"/>
              <a:chOff x="645130" y="3205655"/>
              <a:chExt cx="1793270" cy="1103586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645130" y="3205655"/>
                <a:ext cx="1793270" cy="11035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867551" y="3283851"/>
                <a:ext cx="1375697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Genre </a:t>
                </a:r>
              </a:p>
              <a:p>
                <a:pPr algn="ctr"/>
                <a:r>
                  <a:rPr lang="en-US" dirty="0"/>
                  <a:t>Prediction </a:t>
                </a:r>
              </a:p>
              <a:p>
                <a:pPr algn="ctr"/>
                <a:r>
                  <a:rPr lang="en-US" dirty="0"/>
                  <a:t>(Softmax)</a:t>
                </a:r>
              </a:p>
            </p:txBody>
          </p:sp>
        </p:grpSp>
        <p:sp>
          <p:nvSpPr>
            <p:cNvPr id="37" name="Right Arrow 36"/>
            <p:cNvSpPr/>
            <p:nvPr/>
          </p:nvSpPr>
          <p:spPr>
            <a:xfrm>
              <a:off x="2216782" y="2097258"/>
              <a:ext cx="924925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ight Arrow 37"/>
            <p:cNvSpPr/>
            <p:nvPr/>
          </p:nvSpPr>
          <p:spPr>
            <a:xfrm>
              <a:off x="4935527" y="2086765"/>
              <a:ext cx="834096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ight Arrow 38"/>
            <p:cNvSpPr/>
            <p:nvPr/>
          </p:nvSpPr>
          <p:spPr>
            <a:xfrm rot="10800000">
              <a:off x="7594151" y="3975509"/>
              <a:ext cx="971400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ight Arrow 39"/>
            <p:cNvSpPr/>
            <p:nvPr/>
          </p:nvSpPr>
          <p:spPr>
            <a:xfrm>
              <a:off x="7575220" y="2099928"/>
              <a:ext cx="924925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ight Arrow 40"/>
            <p:cNvSpPr/>
            <p:nvPr/>
          </p:nvSpPr>
          <p:spPr>
            <a:xfrm rot="5400000">
              <a:off x="9085036" y="3028192"/>
              <a:ext cx="775958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ight Arrow 42"/>
            <p:cNvSpPr/>
            <p:nvPr/>
          </p:nvSpPr>
          <p:spPr>
            <a:xfrm rot="10800000">
              <a:off x="4982914" y="3948046"/>
              <a:ext cx="817966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ight Arrow 43"/>
            <p:cNvSpPr/>
            <p:nvPr/>
          </p:nvSpPr>
          <p:spPr>
            <a:xfrm rot="10800000">
              <a:off x="2218246" y="3948047"/>
              <a:ext cx="971400" cy="323166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25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8" y="1255364"/>
            <a:ext cx="10895505" cy="4768830"/>
          </a:xfrm>
        </p:spPr>
        <p:txBody>
          <a:bodyPr>
            <a:normAutofit/>
          </a:bodyPr>
          <a:lstStyle/>
          <a:p>
            <a:r>
              <a:rPr lang="en-US" dirty="0"/>
              <a:t>The proposed MFCC–CNN framework demonstrates strong predictive capability across all evaluation metrics, achieving high accuracy while maintaining balanced precision and recall.</a:t>
            </a:r>
          </a:p>
          <a:p>
            <a:r>
              <a:rPr lang="en-US" dirty="0"/>
              <a:t>To assess deployment feasibility, latency was measured across each processing stage of the real-time pipeline.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236791"/>
              </p:ext>
            </p:extLst>
          </p:nvPr>
        </p:nvGraphicFramePr>
        <p:xfrm>
          <a:off x="1157110" y="3118555"/>
          <a:ext cx="4186121" cy="2455098"/>
        </p:xfrm>
        <a:graphic>
          <a:graphicData uri="http://schemas.openxmlformats.org/drawingml/2006/table">
            <a:tbl>
              <a:tblPr bandRow="1">
                <a:tableStyleId>{E929F9F4-4A8F-4326-A1B4-22849713DDAB}</a:tableStyleId>
              </a:tblPr>
              <a:tblGrid>
                <a:gridCol w="20695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11655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822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EBEBEB"/>
                          </a:solidFill>
                          <a:effectLst/>
                        </a:rPr>
                        <a:t>Metric</a:t>
                      </a:r>
                      <a:endParaRPr lang="en-US" sz="3200" b="1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EBEBEB"/>
                          </a:solidFill>
                          <a:effectLst/>
                        </a:rPr>
                        <a:t>Value (%)</a:t>
                      </a:r>
                      <a:endParaRPr lang="en-US" sz="3200" b="1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822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Accuracy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95.0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822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Precision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94.6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822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Recall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94.2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260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F1-Score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solidFill>
                            <a:srgbClr val="EBEBEB"/>
                          </a:solidFill>
                          <a:effectLst/>
                        </a:rPr>
                        <a:t>94.4</a:t>
                      </a:r>
                      <a:endParaRPr lang="en-US" sz="28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955934"/>
              </p:ext>
            </p:extLst>
          </p:nvPr>
        </p:nvGraphicFramePr>
        <p:xfrm>
          <a:off x="6095999" y="3005666"/>
          <a:ext cx="5128130" cy="2566151"/>
        </p:xfrm>
        <a:graphic>
          <a:graphicData uri="http://schemas.openxmlformats.org/drawingml/2006/table">
            <a:tbl>
              <a:tblPr bandRow="1">
                <a:tableStyleId>{E929F9F4-4A8F-4326-A1B4-22849713DDAB}</a:tableStyleId>
              </a:tblPr>
              <a:tblGrid>
                <a:gridCol w="277069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5743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1683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BEBEB"/>
                          </a:solidFill>
                          <a:effectLst/>
                        </a:rPr>
                        <a:t>Processing Stage</a:t>
                      </a:r>
                      <a:endParaRPr lang="en-US" sz="2800" b="1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BEBEB"/>
                          </a:solidFill>
                          <a:effectLst/>
                        </a:rPr>
                        <a:t>Average Time (ms)</a:t>
                      </a:r>
                      <a:endParaRPr lang="en-US" sz="2800" b="1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298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Audio buffering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18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98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MFCC extraction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42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298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Feature normalization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11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298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CNN forward pass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29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2986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Total inference latency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EBEBEB"/>
                          </a:solidFill>
                          <a:effectLst/>
                        </a:rPr>
                        <a:t>100 ms</a:t>
                      </a:r>
                      <a:endParaRPr lang="en-US" sz="2400" dirty="0">
                        <a:solidFill>
                          <a:srgbClr val="EBEBEB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9452034-F288-D0F9-3FBE-EED29C685052}"/>
              </a:ext>
            </a:extLst>
          </p:cNvPr>
          <p:cNvSpPr txBox="1"/>
          <p:nvPr/>
        </p:nvSpPr>
        <p:spPr>
          <a:xfrm>
            <a:off x="874888" y="5658555"/>
            <a:ext cx="5023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Table 2. </a:t>
            </a:r>
            <a:r>
              <a:rPr lang="en-US" b="1" dirty="0">
                <a:ea typeface="+mn-lt"/>
                <a:cs typeface="+mn-lt"/>
              </a:rPr>
              <a:t>Overall Classification Performance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CB3B092-BA15-356C-30CB-A5AA2C0CA593}"/>
              </a:ext>
            </a:extLst>
          </p:cNvPr>
          <p:cNvSpPr txBox="1"/>
          <p:nvPr/>
        </p:nvSpPr>
        <p:spPr>
          <a:xfrm>
            <a:off x="6448777" y="5658555"/>
            <a:ext cx="50235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Table 3. Real-Time Inference Latency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4244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8" y="1255364"/>
            <a:ext cx="10895505" cy="476883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proposed MFCC-CNN framework achieves 95% classification accuracy on the GTZAN dataset.</a:t>
            </a:r>
          </a:p>
          <a:p>
            <a:pPr>
              <a:lnSpc>
                <a:spcPct val="110000"/>
              </a:lnSpc>
            </a:pPr>
            <a:r>
              <a:rPr lang="en-US" dirty="0"/>
              <a:t>The system maintains a low end-to-end latency of 100 ms, satisfying real-time interactive requirements.</a:t>
            </a:r>
          </a:p>
          <a:p>
            <a:pPr>
              <a:lnSpc>
                <a:spcPct val="110000"/>
              </a:lnSpc>
            </a:pPr>
            <a:r>
              <a:rPr lang="en-US" dirty="0"/>
              <a:t>MFCCs provide an optimal low-dimensional representation, effectively capturing tonal and rhythmic features while reducing computational complexity.</a:t>
            </a:r>
          </a:p>
          <a:p>
            <a:pPr>
              <a:lnSpc>
                <a:spcPct val="110000"/>
              </a:lnSpc>
            </a:pPr>
            <a:r>
              <a:rPr lang="en-US" dirty="0"/>
              <a:t>Compared to raw waveform and complex deep architectures, the proposed model delivers a superior balance between accuracy and speed.</a:t>
            </a:r>
          </a:p>
          <a:p>
            <a:pPr>
              <a:lnSpc>
                <a:spcPct val="110000"/>
              </a:lnSpc>
            </a:pPr>
            <a:r>
              <a:rPr lang="en-US" dirty="0" smtClean="0"/>
              <a:t>The framework is scalable, deployment-ready, and suitable for real-world interactive multimedia applications.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93588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15624"/>
            <a:ext cx="9404723" cy="847792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E141D4-D09A-554E-A049-FB690CEC2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8" y="1255364"/>
            <a:ext cx="10895505" cy="4768830"/>
          </a:xfrm>
        </p:spPr>
        <p:txBody>
          <a:bodyPr>
            <a:normAutofit/>
          </a:bodyPr>
          <a:lstStyle/>
          <a:p>
            <a:r>
              <a:rPr lang="en-US" dirty="0"/>
              <a:t>Tzanetakis &amp; Cook (2002). Musical genre classification of audio signals. IEEE Trans. Speech Audio Process., 10(5), 293-302.</a:t>
            </a:r>
          </a:p>
          <a:p>
            <a:r>
              <a:rPr lang="en-US" dirty="0"/>
              <a:t>LeCun, Bengio &amp; Hinton (2015). Deep learning. Nature, 521(7553), 436-444.</a:t>
            </a:r>
          </a:p>
          <a:p>
            <a:r>
              <a:rPr lang="en-US" dirty="0"/>
              <a:t>Gourisaria et al. (2024). Comparative analysis of audio classification with MFCC and STFT features. Discover IoT, 4(1).</a:t>
            </a:r>
          </a:p>
          <a:p>
            <a:r>
              <a:rPr lang="en-US" dirty="0"/>
              <a:t>Won, Choi &amp; Serra (2021). Evaluation of real-time music classification under streaming constraints. arXiv:2111.13457.</a:t>
            </a:r>
          </a:p>
          <a:p>
            <a:r>
              <a:rPr lang="en-US" dirty="0"/>
              <a:t>Salamon &amp; Bello (2017). Deep CNNs and data augmentation for environmental sound classification. IEEE Signal Process. Lett., 24(3), 279-283.</a:t>
            </a:r>
          </a:p>
          <a:p>
            <a:r>
              <a:rPr lang="en-US" dirty="0"/>
              <a:t>McFee et al. (2015). Librosa: Audio and music signal analysis in Python. SciPy Proceedings, 18-25.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374792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1D67B4-BE27-A24A-854C-3416C1DFD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13298"/>
            <a:ext cx="12191999" cy="933486"/>
          </a:xfrm>
        </p:spPr>
        <p:txBody>
          <a:bodyPr/>
          <a:lstStyle/>
          <a:p>
            <a:pPr algn="ctr"/>
            <a:r>
              <a:rPr lang="en-US" sz="4800" dirty="0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B9D1835-B0C7-D84D-B1F3-73CC6D61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5BB8224-1D1F-2AF7-5B07-40596EABA4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7934" y="6149603"/>
            <a:ext cx="4588056" cy="492773"/>
          </a:xfrm>
          <a:prstGeom prst="rect">
            <a:avLst/>
          </a:prstGeom>
        </p:spPr>
      </p:pic>
      <p:sp>
        <p:nvSpPr>
          <p:cNvPr id="6" name="Footer Placeholder 3">
            <a:extLst>
              <a:ext uri="{FF2B5EF4-FFF2-40B4-BE49-F238E27FC236}">
                <a16:creationId xmlns="" xmlns:a16="http://schemas.microsoft.com/office/drawing/2014/main" id="{5970B553-6308-7332-06DE-6F9E19C36B86}"/>
              </a:ext>
            </a:extLst>
          </p:cNvPr>
          <p:cNvSpPr txBox="1">
            <a:spLocks/>
          </p:cNvSpPr>
          <p:nvPr/>
        </p:nvSpPr>
        <p:spPr>
          <a:xfrm>
            <a:off x="246010" y="6337608"/>
            <a:ext cx="8710785" cy="4099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5000"/>
                    <a:alpha val="60000"/>
                  </a:schemeClr>
                </a:solidFill>
              </a:rPr>
              <a:t>Real-Time Music Genre Classification Using CNN and MFCC for Interactive Systems </a:t>
            </a:r>
          </a:p>
        </p:txBody>
      </p:sp>
    </p:spTree>
    <p:extLst>
      <p:ext uri="{BB962C8B-B14F-4D97-AF65-F5344CB8AC3E}">
        <p14:creationId xmlns:p14="http://schemas.microsoft.com/office/powerpoint/2010/main" val="57240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17227</TotalTime>
  <Words>999</Words>
  <Application>Microsoft Office PowerPoint</Application>
  <PresentationFormat>Widescreen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PowerPoint Presentation</vt:lpstr>
      <vt:lpstr>OUTLINE THAT WILL BE COVERED </vt:lpstr>
      <vt:lpstr>Introduction</vt:lpstr>
      <vt:lpstr>Literature Review</vt:lpstr>
      <vt:lpstr>Dataset</vt:lpstr>
      <vt:lpstr>Proposed System</vt:lpstr>
      <vt:lpstr>Proposed System</vt:lpstr>
      <vt:lpstr>Proposed System</vt:lpstr>
      <vt:lpstr>Results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Saksham</dc:creator>
  <cp:lastModifiedBy>Microsoft account</cp:lastModifiedBy>
  <cp:revision>245</cp:revision>
  <dcterms:created xsi:type="dcterms:W3CDTF">2019-11-08T10:32:06Z</dcterms:created>
  <dcterms:modified xsi:type="dcterms:W3CDTF">2026-02-27T18:15:45Z</dcterms:modified>
</cp:coreProperties>
</file>